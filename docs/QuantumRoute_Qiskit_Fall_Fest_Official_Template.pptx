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91" r:id="rId3"/>
    <p:sldId id="281" r:id="rId4"/>
    <p:sldId id="290" r:id="rId6"/>
    <p:sldId id="293" r:id="rId7"/>
    <p:sldId id="294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40F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82"/>
      </p:cViewPr>
      <p:guideLst>
        <p:guide orient="horz" pos="2134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Relationship Id="rId4" Type="http://schemas.openxmlformats.org/officeDocument/2006/relationships/hyperlink" Target="https://arxiv.org/abs/1411.4028" TargetMode="External"/><Relationship Id="rId5" Type="http://schemas.openxmlformats.org/officeDocument/2006/relationships/hyperlink" Target="https://doi.org/10.3389/fphy.2014.00005" TargetMode="External"/><Relationship Id="rId6" Type="http://schemas.openxmlformats.org/officeDocument/2006/relationships/hyperlink" Target="https://qiskit-community.github.io/qiskit-optimization/" TargetMode="External"/><Relationship Id="rId7" Type="http://schemas.openxmlformats.org/officeDocument/2006/relationships/hyperlink" Target="https://qiskit-community.github.io/qiskit-algorithms/stubs/qiskit_algorithms.QAOA.html" TargetMode="External"/><Relationship Id="rId8" Type="http://schemas.openxmlformats.org/officeDocument/2006/relationships/hyperlink" Target="https://qiskit.github.io/qiskit-aer/" TargetMode="External"/><Relationship Id="rId9" Type="http://schemas.openxmlformats.org/officeDocument/2006/relationships/hyperlink" Target="https://quantum.cloud.ibm.com/docs/en/guides/hello-worl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Q	ISKIT FALL FEST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10985"/>
            <a:ext cx="5924550" cy="443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  <a:spcAft>
                <a:spcPts val="1700"/>
              </a:spcAft>
            </a:pPr>
            <a:r>
              <a:rPr sz="2100" b="1">
                <a:latin typeface="Times New Roman"/>
              </a:rPr>
              <a:t>Problem Statement ID  –  </a:t>
            </a:r>
            <a:r>
              <a:rPr sz="2100" b="0">
                <a:latin typeface="Times New Roman"/>
              </a:rPr>
              <a:t>VNQFF-08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  <a:spcAft>
                <a:spcPts val="1700"/>
              </a:spcAft>
            </a:pPr>
            <a:r>
              <a:rPr sz="2100" b="1">
                <a:latin typeface="Times New Roman"/>
              </a:rPr>
              <a:t>Project Title  –  </a:t>
            </a:r>
            <a:r>
              <a:rPr sz="2100" b="0">
                <a:latin typeface="Times New Roman"/>
              </a:rPr>
              <a:t>QuantumRoute</a:t>
            </a:r>
          </a:p>
          <a:p>
            <a:pPr algn="l">
              <a:lnSpc>
                <a:spcPct val="110000"/>
              </a:lnSpc>
              <a:spcAft>
                <a:spcPts val="1700"/>
              </a:spcAft>
            </a:pPr>
            <a:r>
              <a:rPr sz="2100" b="1">
                <a:latin typeface="Times New Roman"/>
              </a:rPr>
              <a:t>Quantum-Enhanced Dynamic Last-Mile Route Optimisation</a:t>
            </a:r>
          </a:p>
          <a:p>
            <a:pPr algn="l">
              <a:lnSpc>
                <a:spcPct val="110000"/>
              </a:lnSpc>
              <a:spcAft>
                <a:spcPts val="1700"/>
              </a:spcAft>
            </a:pPr>
            <a:r>
              <a:rPr sz="2100" b="1">
                <a:latin typeface="Times New Roman"/>
              </a:rPr>
              <a:t>Team Name  –  </a:t>
            </a:r>
            <a:r>
              <a:rPr sz="2100" b="0">
                <a:latin typeface="Times New Roman"/>
              </a:rPr>
              <a:t>K-NOVA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4574" y="2267181"/>
            <a:ext cx="3021819" cy="30218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QUANTUMROUTE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13714" y="1526441"/>
            <a:ext cx="12191999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I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</a:t>
            </a:r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QISKIT FALL FEST 2026 - </a:t>
            </a:r>
            <a:r>
              <a:rPr lang="en-US" dirty="0">
                <a:solidFill>
                  <a:schemeClr val="bg1"/>
                </a:solidFill>
              </a:rPr>
              <a:t>K-NOVA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K-NOVA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0551" y="129010"/>
            <a:ext cx="1039208" cy="1039208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13715" y="2110105"/>
            <a:ext cx="8865870" cy="35382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lnSpc>
                <a:spcPct val="104000"/>
              </a:lnSpc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Problem addressed: </a:t>
            </a:r>
            <a:r>
              <a:rPr sz="1750" b="0">
                <a:solidFill>
                  <a:srgbClr val="000000"/>
                </a:solidFill>
                <a:latin typeface="Times New Roman"/>
              </a:rPr>
              <a:t>Last-mile dispatch must serve multiple destinations while respecting vehicle capacity, delivery windows and shifts as traffic or fleet availability changes.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4000"/>
              </a:lnSpc>
              <a:spcAft>
                <a:spcPts val="1000"/>
              </a:spcAft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Innovation: </a:t>
            </a:r>
            <a:r>
              <a:rPr sz="1750" b="0">
                <a:solidFill>
                  <a:srgbClr val="000000"/>
                </a:solidFill>
                <a:latin typeface="Times New Roman"/>
              </a:rPr>
              <a:t>Represent feasible vehicle-route options as binary QUBO variables; penalties encode exact delivery coverage and at-most-one selected route per vehicle.</a:t>
            </a:r>
          </a:p>
          <a:p>
            <a:pPr algn="l">
              <a:lnSpc>
                <a:spcPct val="104000"/>
              </a:lnSpc>
              <a:spcAft>
                <a:spcPts val="1000"/>
              </a:spcAft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Hybrid method: </a:t>
            </a:r>
            <a:r>
              <a:rPr sz="1750" b="0">
                <a:solidFill>
                  <a:srgbClr val="000000"/>
                </a:solidFill>
                <a:latin typeface="Times New Roman"/>
              </a:rPr>
              <a:t>Classical optimization provides a baseline; QAOA samples the small QUBO with Qiskit Aer. IBM Quantum Runtime is a separate, optional guarded pathway.</a:t>
            </a:r>
          </a:p>
          <a:p>
            <a:pPr algn="l">
              <a:lnSpc>
                <a:spcPct val="104000"/>
              </a:lnSpc>
              <a:spcAft>
                <a:spcPts val="1000"/>
              </a:spcAft>
            </a:pPr>
            <a:r>
              <a:rPr sz="1750" b="1">
                <a:solidFill>
                  <a:srgbClr val="000000"/>
                </a:solidFill>
                <a:latin typeface="Times New Roman"/>
              </a:rPr>
              <a:t>What is distinctive: </a:t>
            </a:r>
            <a:r>
              <a:rPr sz="1750" b="0">
                <a:solidFill>
                  <a:srgbClr val="000000"/>
                </a:solidFill>
                <a:latin typeface="Times New Roman"/>
              </a:rPr>
              <a:t>Traffic and vehicle-disruption scenarios trigger re-optimization. Every observed candidate is decoded and checked again by existing feasibility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1955803"/>
            <a:ext cx="9802761" cy="2676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None/>
            </a:pPr>
            <a:r>
              <a:rPr sz="1650" b="1">
                <a:solidFill>
                  <a:srgbClr val="000000"/>
                </a:solidFill>
                <a:latin typeface="Times New Roman"/>
              </a:rPr>
              <a:t>Build candidates: </a:t>
            </a:r>
            <a:r>
              <a:rPr sz="1650" b="0">
                <a:solidFill>
                  <a:srgbClr val="000000"/>
                </a:solidFill>
                <a:latin typeface="Times New Roman"/>
              </a:rPr>
              <a:t>Classical checks generate feasible routes subject to vehicle capacity, time windows and shift constraints.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650" b="1">
                <a:solidFill>
                  <a:srgbClr val="000000"/>
                </a:solidFill>
                <a:latin typeface="Times New Roman"/>
              </a:rPr>
              <a:t>Formulate and sample: </a:t>
            </a:r>
            <a:r>
              <a:rPr sz="1650" b="0">
                <a:solidFill>
                  <a:srgbClr val="000000"/>
                </a:solidFill>
                <a:latin typeface="Times New Roman"/>
              </a:rPr>
              <a:t>Qiskit Optimization maps route costs and constraint penalties from QUBO to Ising; QAOA parameters are optimized locally and sampled with Aer.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650" b="1">
                <a:solidFill>
                  <a:srgbClr val="000000"/>
                </a:solidFill>
                <a:latin typeface="Times New Roman"/>
              </a:rPr>
              <a:t>Decode and validate: </a:t>
            </a:r>
            <a:r>
              <a:rPr sz="1650" b="0">
                <a:solidFill>
                  <a:srgbClr val="000000"/>
                </a:solidFill>
                <a:latin typeface="Times New Roman"/>
              </a:rPr>
              <a:t>Use the recorded bit-to-route mapping, evaluate the original QUBO and recheck scenario feasibility; do not substitute unobserved answers.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650" b="1">
                <a:solidFill>
                  <a:srgbClr val="000000"/>
                </a:solidFill>
                <a:latin typeface="Times New Roman"/>
              </a:rPr>
              <a:t>Optional hardware: </a:t>
            </a:r>
            <a:r>
              <a:rPr sz="1650" b="0">
                <a:solidFill>
                  <a:srgbClr val="000000"/>
                </a:solidFill>
                <a:latin typeface="Times New Roman"/>
              </a:rPr>
              <a:t>Local transpilation/readiness checks are separate from IBM hardware execution.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ym typeface="+mn-ea"/>
              </a:rPr>
              <a:t>K-NOVA</a:t>
            </a:r>
            <a:endParaRPr lang="en-IN" dirty="0"/>
          </a:p>
        </p:txBody>
      </p:sp>
      <p:sp>
        <p:nvSpPr>
          <p:cNvPr id="2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</a:t>
            </a:r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QISKIT FALL FEST 2026 - </a:t>
            </a:r>
            <a:r>
              <a:rPr lang="en-US" dirty="0">
                <a:solidFill>
                  <a:schemeClr val="bg1"/>
                </a:solidFill>
              </a:rPr>
              <a:t>K-NOVA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0551" y="129010"/>
            <a:ext cx="1039208" cy="1039208"/>
          </a:xfrm>
          <a:prstGeom prst="rect">
            <a:avLst/>
          </a:prstGeom>
        </p:spPr>
      </p:pic>
      <p:sp>
        <p:nvSpPr>
          <p:cNvPr id="17411" name="Official flow - FEASIBLE ROUTES"/>
          <p:cNvSpPr/>
          <p:nvPr/>
        </p:nvSpPr>
        <p:spPr>
          <a:xfrm>
            <a:off x="694944" y="4892040"/>
            <a:ext cx="1609344" cy="722376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FEASIBLE
ROUTES</a:t>
            </a:r>
          </a:p>
        </p:txBody>
      </p:sp>
      <p:sp>
        <p:nvSpPr>
          <p:cNvPr id="17412" name="Official flow - QUBO"/>
          <p:cNvSpPr/>
          <p:nvPr/>
        </p:nvSpPr>
        <p:spPr>
          <a:xfrm>
            <a:off x="2770632" y="4892040"/>
            <a:ext cx="1234440" cy="722376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QUBO</a:t>
            </a:r>
          </a:p>
        </p:txBody>
      </p:sp>
      <p:sp>
        <p:nvSpPr>
          <p:cNvPr id="17413" name="Official flow - QAOA"/>
          <p:cNvSpPr/>
          <p:nvPr/>
        </p:nvSpPr>
        <p:spPr>
          <a:xfrm>
            <a:off x="4553712" y="4892040"/>
            <a:ext cx="1234440" cy="722376"/>
          </a:xfrm>
          <a:prstGeom prst="roundRect">
            <a:avLst/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QAOA</a:t>
            </a:r>
          </a:p>
        </p:txBody>
      </p:sp>
      <p:sp>
        <p:nvSpPr>
          <p:cNvPr id="17414" name="Official flow - AER SIMULATION"/>
          <p:cNvSpPr/>
          <p:nvPr/>
        </p:nvSpPr>
        <p:spPr>
          <a:xfrm>
            <a:off x="6336792" y="4892040"/>
            <a:ext cx="1572768" cy="722376"/>
          </a:xfrm>
          <a:prstGeom prst="roundRect">
            <a:avLst/>
          </a:prstGeom>
          <a:solidFill>
            <a:srgbClr val="007C91"/>
          </a:solidFill>
          <a:ln>
            <a:solidFill>
              <a:srgbClr val="00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AER
SIMULATION</a:t>
            </a:r>
          </a:p>
        </p:txBody>
      </p:sp>
      <p:sp>
        <p:nvSpPr>
          <p:cNvPr id="17415" name="Official flow - DECODE + VALIDATE"/>
          <p:cNvSpPr/>
          <p:nvPr/>
        </p:nvSpPr>
        <p:spPr>
          <a:xfrm>
            <a:off x="8458200" y="4892040"/>
            <a:ext cx="1755648" cy="722376"/>
          </a:xfrm>
          <a:prstGeom prst="roundRect">
            <a:avLst/>
          </a:prstGeom>
          <a:solidFill>
            <a:srgbClr val="548235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DECODE +
VALIDATE</a:t>
            </a:r>
          </a:p>
        </p:txBody>
      </p:sp>
      <p:cxnSp>
        <p:nvCxnSpPr>
          <p:cNvPr id="17416" name="Official flow connector 1"/>
          <p:cNvCxnSpPr/>
          <p:nvPr/>
        </p:nvCxnSpPr>
        <p:spPr>
          <a:xfrm>
            <a:off x="2340864" y="5253227"/>
            <a:ext cx="356615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Official flow arrow 1"/>
          <p:cNvSpPr/>
          <p:nvPr/>
        </p:nvSpPr>
        <p:spPr>
          <a:xfrm>
            <a:off x="2606039" y="5161788"/>
            <a:ext cx="164592" cy="182880"/>
          </a:xfrm>
          <a:prstGeom prst="chevron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18" name="Official flow connector 2"/>
          <p:cNvCxnSpPr/>
          <p:nvPr/>
        </p:nvCxnSpPr>
        <p:spPr>
          <a:xfrm>
            <a:off x="4041648" y="5253227"/>
            <a:ext cx="43891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Official flow arrow 2"/>
          <p:cNvSpPr/>
          <p:nvPr/>
        </p:nvSpPr>
        <p:spPr>
          <a:xfrm>
            <a:off x="4389120" y="5161788"/>
            <a:ext cx="164592" cy="182880"/>
          </a:xfrm>
          <a:prstGeom prst="chevron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20" name="Official flow connector 3"/>
          <p:cNvCxnSpPr/>
          <p:nvPr/>
        </p:nvCxnSpPr>
        <p:spPr>
          <a:xfrm>
            <a:off x="5824728" y="5253227"/>
            <a:ext cx="43891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Official flow arrow 3"/>
          <p:cNvSpPr/>
          <p:nvPr/>
        </p:nvSpPr>
        <p:spPr>
          <a:xfrm>
            <a:off x="6172200" y="5161788"/>
            <a:ext cx="164592" cy="182880"/>
          </a:xfrm>
          <a:prstGeom prst="chevron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22" name="Official flow connector 4"/>
          <p:cNvCxnSpPr/>
          <p:nvPr/>
        </p:nvCxnSpPr>
        <p:spPr>
          <a:xfrm>
            <a:off x="7946136" y="5253227"/>
            <a:ext cx="43891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Official flow arrow 4"/>
          <p:cNvSpPr/>
          <p:nvPr/>
        </p:nvSpPr>
        <p:spPr>
          <a:xfrm>
            <a:off x="8293608" y="5161788"/>
            <a:ext cx="164592" cy="182880"/>
          </a:xfrm>
          <a:prstGeom prst="chevron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20725" y="1536703"/>
            <a:ext cx="9385300" cy="39693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2000"/>
              </a:lnSpc>
              <a:spcBef>
                <a:spcPct val="0"/>
              </a:spcBef>
              <a:spcAft>
                <a:spcPts val="11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sz="1650" b="1">
                <a:solidFill>
                  <a:srgbClr val="000000"/>
                </a:solidFill>
                <a:latin typeface="Times New Roman"/>
              </a:rPr>
              <a:t>Technology: </a:t>
            </a:r>
            <a:r>
              <a:rPr sz="1650" b="0">
                <a:solidFill>
                  <a:srgbClr val="000000"/>
                </a:solidFill>
                <a:latin typeface="Times New Roman"/>
              </a:rPr>
              <a:t>Python and Streamlit; Qiskit, Qiskit Optimization, Qiskit Algorithms and Aer; Folium; optional OSRM; SQLite history.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650" b="1">
                <a:solidFill>
                  <a:srgbClr val="000000"/>
                </a:solidFill>
                <a:latin typeface="Times New Roman"/>
              </a:rPr>
              <a:t>Practicality: </a:t>
            </a:r>
            <a:r>
              <a:rPr sz="1650" b="0">
                <a:solidFill>
                  <a:srgbClr val="000000"/>
                </a:solidFill>
                <a:latin typeface="Times New Roman"/>
              </a:rPr>
              <a:t>Deterministic Demo Mode runs locally. The guarded hardware demo is limited to its approved four-variable case; the prepared circuit requires at most five qubits.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650" b="1">
                <a:solidFill>
                  <a:srgbClr val="000000"/>
                </a:solidFill>
                <a:latin typeface="Times New Roman"/>
              </a:rPr>
              <a:t>Hardware pathway: </a:t>
            </a:r>
            <a:r>
              <a:rPr sz="1650" b="0">
                <a:solidFill>
                  <a:srgbClr val="000000"/>
                </a:solidFill>
                <a:latin typeface="Times New Roman"/>
              </a:rPr>
              <a:t>IBM authentication, read-only backend discovery and a safe dry-run readiness check were verified. A real submission requires explicit user confirmation.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650" b="1">
                <a:solidFill>
                  <a:srgbClr val="000000"/>
                </a:solidFill>
                <a:latin typeface="Times New Roman"/>
              </a:rPr>
              <a:t>Limitations: </a:t>
            </a:r>
            <a:r>
              <a:rPr sz="1650" b="0">
                <a:solidFill>
                  <a:srgbClr val="000000"/>
                </a:solidFill>
                <a:latin typeface="Times New Roman"/>
              </a:rPr>
              <a:t>Traffic and fleet incidents are simulated; QAOA is stochastic; OSRM alternatives do not select the optimizer route. No hardware result, measured savings or quantum advantage is claimed.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ym typeface="+mn-ea"/>
              </a:rPr>
              <a:t>K-NOVA</a:t>
            </a:r>
            <a:endParaRPr lang="en-IN" dirty="0"/>
          </a:p>
        </p:txBody>
      </p:sp>
      <p:sp>
        <p:nvSpPr>
          <p:cNvPr id="2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</a:t>
            </a:r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QISKIT FALL FEST 2026 - </a:t>
            </a:r>
            <a:r>
              <a:rPr lang="en-US" dirty="0">
                <a:solidFill>
                  <a:schemeClr val="bg1"/>
                </a:solidFill>
              </a:rPr>
              <a:t>K-NOVA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0551" y="129010"/>
            <a:ext cx="1039208" cy="10392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70560" y="1459233"/>
            <a:ext cx="9385300" cy="31076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57200" marR="0" lvl="0" indent="-457200" algn="l" defTabSz="457200" rtl="0" eaLnBrk="1" fontAlgn="base" latinLnBrk="0" hangingPunct="1">
              <a:lnSpc>
                <a:spcPct val="102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Target audience: 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Last-mile dispatch teams, fleet planners, and students or researchers exploring optimization.</a:t>
            </a:r>
            <a:endParaRPr lang="en-US" alt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Operational visibility: 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Compare assignments, delivery coverage, time-window feasibility and unassigned work after a scenario change.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Economic decision support: 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Review modeled distance, travel time and operating cost across objective priorities; actual savings have not been measured.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Environmental insight: 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Inspect configured fuel use and estimated tailpipe CO₂ to compare modeled plans; no emissions reduction is claimed.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Resilience exploration: 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Observe how re-optimization responds to simulated congestion or a vehicle becoming unavailable.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ym typeface="+mn-ea"/>
              </a:rPr>
              <a:t>K-NOVA</a:t>
            </a:r>
            <a:endParaRPr lang="en-IN" dirty="0"/>
          </a:p>
        </p:txBody>
      </p:sp>
      <p:sp>
        <p:nvSpPr>
          <p:cNvPr id="2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</a:t>
            </a:r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QISKIT FALL FEST 2026 - </a:t>
            </a:r>
            <a:r>
              <a:rPr lang="en-US" dirty="0">
                <a:solidFill>
                  <a:schemeClr val="bg1"/>
                </a:solidFill>
              </a:rPr>
              <a:t>K-NOVA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0551" y="129010"/>
            <a:ext cx="1039208" cy="10392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44618"/>
            <a:ext cx="9385300" cy="39693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4000"/>
              </a:lnSpc>
              <a:spcBef>
                <a:spcPct val="0"/>
              </a:spcBef>
              <a:spcAft>
                <a:spcPts val="11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Farhi, Goldstone &amp; Gutmann (2014), “A Quantum Approximate Optimization Algorithm.” arXiv:1411.4028. </a:t>
            </a:r>
            <a:r>
              <a:rPr sz="1400" b="1" u="sng">
                <a:solidFill>
                  <a:srgbClr val="0066B8"/>
                </a:solidFill>
                <a:latin typeface="Times New Roman"/>
                <a:hlinkClick r:id="rId4"/>
              </a:rPr>
              <a:t>[arXiv]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Lucas (2014), “Ising Formulations of Many NP Problems.” Frontiers in Physics 2:5. </a:t>
            </a:r>
            <a:r>
              <a:rPr sz="1400" b="1" u="sng">
                <a:solidFill>
                  <a:srgbClr val="0066B8"/>
                </a:solidFill>
                <a:latin typeface="Times New Roman"/>
                <a:hlinkClick r:id="rId5"/>
              </a:rPr>
              <a:t>[DOI]</a:t>
            </a: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Qiskit Optimization documentation — modeling and optimization algorithms. </a:t>
            </a:r>
            <a:r>
              <a:rPr sz="1400" b="1" u="sng">
                <a:solidFill>
                  <a:srgbClr val="0066B8"/>
                </a:solidFill>
                <a:latin typeface="Times New Roman"/>
                <a:hlinkClick r:id="rId6"/>
              </a:rPr>
              <a:t>[Docs]</a:t>
            </a: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Qiskit Algorithms: QAOA API reference. </a:t>
            </a:r>
            <a:r>
              <a:rPr sz="1400" b="1" u="sng">
                <a:solidFill>
                  <a:srgbClr val="0066B8"/>
                </a:solidFill>
                <a:latin typeface="Times New Roman"/>
                <a:hlinkClick r:id="rId7"/>
              </a:rPr>
              <a:t>[Docs]</a:t>
            </a: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Qiskit Aer documentation — local simulation. </a:t>
            </a:r>
            <a:r>
              <a:rPr sz="1400" b="1" u="sng">
                <a:solidFill>
                  <a:srgbClr val="0066B8"/>
                </a:solidFill>
                <a:latin typeface="Times New Roman"/>
                <a:hlinkClick r:id="rId8"/>
              </a:rPr>
              <a:t>[Docs]</a:t>
            </a: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IBM Quantum: “Run your first circuit on hardware” (platform documentation). </a:t>
            </a:r>
            <a:r>
              <a:rPr sz="1400" b="1" u="sng">
                <a:solidFill>
                  <a:srgbClr val="0066B8"/>
                </a:solidFill>
                <a:latin typeface="Times New Roman"/>
                <a:hlinkClick r:id="rId9"/>
              </a:rPr>
              <a:t>[Guide]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ym typeface="+mn-ea"/>
              </a:rPr>
              <a:t>K-NOVA</a:t>
            </a:r>
            <a:endParaRPr lang="en-IN" dirty="0"/>
          </a:p>
        </p:txBody>
      </p:sp>
      <p:sp>
        <p:nvSpPr>
          <p:cNvPr id="2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</a:t>
            </a:r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QISKIT FALL FEST 2026 - </a:t>
            </a:r>
            <a:r>
              <a:rPr lang="en-US" dirty="0">
                <a:solidFill>
                  <a:schemeClr val="bg1"/>
                </a:solidFill>
              </a:rPr>
              <a:t>K-NOVA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0551" y="129010"/>
            <a:ext cx="1039208" cy="10392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1952</Words>
  <Application>WPS Presentation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MS PGothic</vt:lpstr>
      <vt:lpstr>TradeGothic</vt:lpstr>
      <vt:lpstr>Segoe Print</vt:lpstr>
      <vt:lpstr>TradeGothic</vt:lpstr>
      <vt:lpstr>Arial</vt:lpstr>
      <vt:lpstr>Times New Roman</vt:lpstr>
      <vt:lpstr>Garamond</vt:lpstr>
      <vt:lpstr>Calibri</vt:lpstr>
      <vt:lpstr>Microsoft YaHei</vt:lpstr>
      <vt:lpstr>Arial Unicode MS</vt:lpstr>
      <vt:lpstr>Office Theme</vt:lpstr>
      <vt:lpstr>Q	ISKIT FALL FEST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QuantumRoute — Qiskit Fall Fest Official Template</dc:title>
  <dc:creator>K-NOVA</dc:creator>
  <cp:lastModifiedBy>Ashok Challa</cp:lastModifiedBy>
  <cp:revision>156</cp:revision>
  <dcterms:created xsi:type="dcterms:W3CDTF">2013-12-12T18:46:00Z</dcterms:created>
  <dcterms:modified xsi:type="dcterms:W3CDTF">2026-10-07T10:56:51Z</dcterms:modified>
  <dc:subject>VNQFF-08 six-slide official submission</dc:subject>
  <dc:description>Edited copy of organizer-provided six-slide template. No IBM hardware job executed or claimed.</dc:descript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5AE2EB331FF944B19C310B72E2C32751_13</vt:lpwstr>
  </property>
</Properties>
</file>