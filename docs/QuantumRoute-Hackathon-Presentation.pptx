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HACKATHON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QuantumRoute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Quantum-Enhanced Dynamic Last-Mile Route Optimisation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01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55648"/>
            <a:ext cx="2980944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1764792"/>
            <a:ext cx="2834639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42DDE3"/>
                </a:solidFill>
                <a:latin typeface="Aptos"/>
              </a:rPr>
              <a:t>HYBRID CLASSICAL + QUANTUM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5715000" cy="20848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Smarter planning for</a:t>
            </a:r>
          </a:p>
          <a:p>
            <a:pPr algn="l"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small, constrained</a:t>
            </a:r>
          </a:p>
          <a:p>
            <a:pPr algn="l"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delivery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535424"/>
            <a:ext cx="539496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A5B7CF"/>
                </a:solidFill>
                <a:latin typeface="Aptos"/>
              </a:rPr>
              <a:t>Feasibility first. Optimization next. Re-validate every candidate.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55648"/>
            <a:ext cx="3675887" cy="34015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680960" y="2093976"/>
            <a:ext cx="0" cy="2679192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11896" y="2093976"/>
            <a:ext cx="0" cy="2679192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42832" y="2093976"/>
            <a:ext cx="0" cy="2679192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73768" y="2093976"/>
            <a:ext cx="0" cy="2679192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4" y="2093976"/>
            <a:ext cx="0" cy="2679192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53527" y="2157984"/>
            <a:ext cx="3063241" cy="0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53527" y="2761488"/>
            <a:ext cx="3063241" cy="0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53527" y="3364991"/>
            <a:ext cx="3063241" cy="0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53527" y="3968496"/>
            <a:ext cx="3063241" cy="0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53527" y="4572000"/>
            <a:ext cx="3063241" cy="0"/>
          </a:xfrm>
          <a:prstGeom prst="line">
            <a:avLst/>
          </a:prstGeom>
          <a:ln w="698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973568" y="3703320"/>
            <a:ext cx="576072" cy="548640"/>
          </a:xfrm>
          <a:prstGeom prst="line">
            <a:avLst/>
          </a:prstGeom>
          <a:ln w="3810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49640" y="3703320"/>
            <a:ext cx="640080" cy="320040"/>
          </a:xfrm>
          <a:prstGeom prst="line">
            <a:avLst/>
          </a:prstGeom>
          <a:ln w="3810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189720" y="3026664"/>
            <a:ext cx="521208" cy="996696"/>
          </a:xfrm>
          <a:prstGeom prst="line">
            <a:avLst/>
          </a:prstGeom>
          <a:ln w="3810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0928" y="3026664"/>
            <a:ext cx="585216" cy="393192"/>
          </a:xfrm>
          <a:prstGeom prst="line">
            <a:avLst/>
          </a:prstGeom>
          <a:ln w="3810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296144" y="2505456"/>
            <a:ext cx="201168" cy="914400"/>
          </a:xfrm>
          <a:prstGeom prst="line">
            <a:avLst/>
          </a:prstGeom>
          <a:ln w="3810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863840" y="4142232"/>
            <a:ext cx="219456" cy="219456"/>
          </a:xfrm>
          <a:prstGeom prst="ellipse">
            <a:avLst/>
          </a:prstGeom>
          <a:solidFill>
            <a:srgbClr val="42DDE3"/>
          </a:solidFill>
          <a:ln w="1270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9912" y="3593591"/>
            <a:ext cx="219456" cy="219456"/>
          </a:xfrm>
          <a:prstGeom prst="ellipse">
            <a:avLst/>
          </a:prstGeom>
          <a:solidFill>
            <a:srgbClr val="112A4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79992" y="3913632"/>
            <a:ext cx="219456" cy="219456"/>
          </a:xfrm>
          <a:prstGeom prst="ellipse">
            <a:avLst/>
          </a:prstGeom>
          <a:solidFill>
            <a:srgbClr val="112A4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0" y="2916936"/>
            <a:ext cx="219456" cy="219456"/>
          </a:xfrm>
          <a:prstGeom prst="ellipse">
            <a:avLst/>
          </a:prstGeom>
          <a:solidFill>
            <a:srgbClr val="112A4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86416" y="3310128"/>
            <a:ext cx="219456" cy="219456"/>
          </a:xfrm>
          <a:prstGeom prst="ellipse">
            <a:avLst/>
          </a:prstGeom>
          <a:solidFill>
            <a:srgbClr val="112A4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87584" y="2395728"/>
            <a:ext cx="219456" cy="219456"/>
          </a:xfrm>
          <a:prstGeom prst="ellipse">
            <a:avLst/>
          </a:prstGeom>
          <a:solidFill>
            <a:srgbClr val="42DDE3"/>
          </a:solidFill>
          <a:ln w="1270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89520" y="4526280"/>
            <a:ext cx="932688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62672" y="4535424"/>
            <a:ext cx="78638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DEPOT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8" y="1993392"/>
            <a:ext cx="1261872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2002536"/>
            <a:ext cx="11155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184FF"/>
                </a:solidFill>
                <a:latin typeface="Aptos"/>
              </a:rPr>
              <a:t>DELIVERY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53527" y="5358384"/>
            <a:ext cx="3081528" cy="438912"/>
          </a:xfrm>
          <a:prstGeom prst="round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79" y="5431536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F7FC"/>
                </a:solidFill>
                <a:latin typeface="Aptos"/>
              </a:rPr>
              <a:t>CLASSICAL  →  QUBO  →  QAOA  →  AER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13832"/>
            <a:ext cx="1847088" cy="530352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559552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724144"/>
            <a:ext cx="148132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2DDE3"/>
                </a:solidFill>
                <a:latin typeface="Aptos"/>
              </a:rPr>
              <a:t>K-NOVA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1488" y="5596128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5B7CF"/>
                </a:solidFill>
                <a:latin typeface="Aptos"/>
              </a:rPr>
              <a:t>Local Aer demo • IBM hardware is optional and guarded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01 / 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Last-mile plans break under real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A useful plan must remain feasible as operating conditions change.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83080"/>
            <a:ext cx="3401568" cy="1417320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" y="1947672"/>
            <a:ext cx="50292" cy="1088136"/>
          </a:xfrm>
          <a:prstGeom prst="rect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1938528"/>
            <a:ext cx="28986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2DDE3"/>
                </a:solidFill>
                <a:latin typeface="Aptos"/>
              </a:rPr>
              <a:t>Multiple stops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331720"/>
            <a:ext cx="2871216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4F7FC"/>
                </a:solidFill>
                <a:latin typeface="Aptos"/>
              </a:rPr>
              <a:t>Assign every delivery to a route and vehicle.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783080"/>
            <a:ext cx="3401568" cy="1417320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947672"/>
            <a:ext cx="50292" cy="1088136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1938528"/>
            <a:ext cx="28986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B91FF"/>
                </a:solidFill>
                <a:latin typeface="Aptos"/>
              </a:rPr>
              <a:t>Capacity + time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331720"/>
            <a:ext cx="2871216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Respect demand, vehicle capacity, service windows, and shifts.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01568"/>
            <a:ext cx="3401568" cy="1417320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" y="3566160"/>
            <a:ext cx="50292" cy="1088136"/>
          </a:xfrm>
          <a:prstGeom prst="rect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557016"/>
            <a:ext cx="28986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A184FF"/>
                </a:solidFill>
                <a:latin typeface="Aptos"/>
              </a:rPr>
              <a:t>Changing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950208"/>
            <a:ext cx="2871216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4F7FC"/>
                </a:solidFill>
                <a:latin typeface="Aptos"/>
              </a:rPr>
              <a:t>Congestion changes travel durations and operating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401568"/>
            <a:ext cx="3401568" cy="1417320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3566160"/>
            <a:ext cx="50292" cy="1088136"/>
          </a:xfrm>
          <a:prstGeom prst="rect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557016"/>
            <a:ext cx="28986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C06E"/>
                </a:solidFill>
                <a:latin typeface="Aptos"/>
              </a:rPr>
              <a:t>Fleet disruption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950208"/>
            <a:ext cx="2871216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4F7FC"/>
                </a:solidFill>
                <a:latin typeface="Aptos"/>
              </a:rPr>
              <a:t>An unavailable vehicle can make an existing plan infeasible.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7" y="1783080"/>
            <a:ext cx="3108960" cy="303580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1993392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DDE3"/>
                </a:solidFill>
                <a:latin typeface="Aptos"/>
              </a:rPr>
              <a:t>THE TRADE-OFF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596896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2596896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236976"/>
            <a:ext cx="914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236976"/>
            <a:ext cx="12801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Feasibility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57031" y="3054096"/>
            <a:ext cx="2203705" cy="0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57031" y="3712463"/>
            <a:ext cx="2203705" cy="0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93024" y="4105656"/>
            <a:ext cx="241401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One change can shift the best feasible assignment.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30368"/>
            <a:ext cx="10332720" cy="6583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394960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CHALLENGE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39112" y="5330952"/>
            <a:ext cx="8458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4F7FC"/>
                </a:solidFill>
                <a:latin typeface="Aptos"/>
              </a:rPr>
              <a:t>Satisfy operational constraints before comparing route trade-offs.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02 /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A hybrid workflow with classical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QAOA explores binary route selections; classical checks keep the plan operationally grounded.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03 / 10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783080"/>
            <a:ext cx="365760" cy="365760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865376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3101D"/>
                </a:solidFill>
                <a:latin typeface="Aptos"/>
              </a:rP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" y="2157984"/>
            <a:ext cx="0" cy="329184"/>
          </a:xfrm>
          <a:prstGeom prst="line">
            <a:avLst/>
          </a:prstGeom>
          <a:ln w="254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25296" y="1719072"/>
            <a:ext cx="5760720" cy="6583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1801368"/>
            <a:ext cx="184708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2DDE3"/>
                </a:solidFill>
                <a:latin typeface="Aptos"/>
              </a:rPr>
              <a:t>Generate feasible 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1792224"/>
            <a:ext cx="348386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Classical route logic checks capacity, delivery windows, and shifts.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2624327"/>
            <a:ext cx="365760" cy="365760"/>
          </a:xfrm>
          <a:prstGeom prst="ellipse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70662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3101D"/>
                </a:solidFill>
                <a:latin typeface="Aptos"/>
              </a:rPr>
              <a:t>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" y="2999232"/>
            <a:ext cx="0" cy="329183"/>
          </a:xfrm>
          <a:prstGeom prst="line">
            <a:avLst/>
          </a:prstGeom>
          <a:ln w="254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25296" y="2560320"/>
            <a:ext cx="5760720" cy="6583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2642615"/>
            <a:ext cx="184708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B91FF"/>
                </a:solidFill>
                <a:latin typeface="Aptos"/>
              </a:rPr>
              <a:t>Build the QUBO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5264" y="2633472"/>
            <a:ext cx="348386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Encode feasible route choices, costs, and assignment penalties.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3465575"/>
            <a:ext cx="365760" cy="365760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54787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3101D"/>
                </a:solidFill>
                <a:latin typeface="Aptos"/>
              </a:rPr>
              <a:t>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2" y="3840479"/>
            <a:ext cx="0" cy="329184"/>
          </a:xfrm>
          <a:prstGeom prst="line">
            <a:avLst/>
          </a:prstGeom>
          <a:ln w="254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25296" y="3401568"/>
            <a:ext cx="5760720" cy="6583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752" y="3483863"/>
            <a:ext cx="184708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A184FF"/>
                </a:solidFill>
                <a:latin typeface="Aptos"/>
              </a:rPr>
              <a:t>Sample with QAOA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5264" y="3474720"/>
            <a:ext cx="348386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Run the parameterized circuit locally with Qiskit Aer.</a:t>
            </a:r>
          </a:p>
        </p:txBody>
      </p:sp>
      <p:sp>
        <p:nvSpPr>
          <p:cNvPr id="29" name="Oval 28"/>
          <p:cNvSpPr/>
          <p:nvPr/>
        </p:nvSpPr>
        <p:spPr>
          <a:xfrm>
            <a:off x="713232" y="4306824"/>
            <a:ext cx="365760" cy="365760"/>
          </a:xfrm>
          <a:prstGeom prst="ellipse">
            <a:avLst/>
          </a:prstGeom>
          <a:solidFill>
            <a:srgbClr val="5D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438912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3101D"/>
                </a:solidFill>
                <a:latin typeface="Aptos"/>
              </a:rPr>
              <a:t>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6112" y="4681728"/>
            <a:ext cx="0" cy="329184"/>
          </a:xfrm>
          <a:prstGeom prst="line">
            <a:avLst/>
          </a:prstGeom>
          <a:ln w="254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225296" y="4242816"/>
            <a:ext cx="5760720" cy="6583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4752" y="4325112"/>
            <a:ext cx="184708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DE0A0"/>
                </a:solidFill>
                <a:latin typeface="Aptos"/>
              </a:rPr>
              <a:t>Decode +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5264" y="4315968"/>
            <a:ext cx="348386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Map measured bits back to routes and recheck feasibility.</a:t>
            </a:r>
          </a:p>
        </p:txBody>
      </p:sp>
      <p:sp>
        <p:nvSpPr>
          <p:cNvPr id="35" name="Oval 34"/>
          <p:cNvSpPr/>
          <p:nvPr/>
        </p:nvSpPr>
        <p:spPr>
          <a:xfrm>
            <a:off x="713232" y="5148072"/>
            <a:ext cx="365760" cy="365760"/>
          </a:xfrm>
          <a:prstGeom prst="ellipse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5230368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3101D"/>
                </a:solidFill>
                <a:latin typeface="Aptos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25296" y="5084064"/>
            <a:ext cx="5760720" cy="6583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4752" y="5166360"/>
            <a:ext cx="184708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C06E"/>
                </a:solidFill>
                <a:latin typeface="Aptos"/>
              </a:rPr>
              <a:t>Re-optimize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5264" y="5157216"/>
            <a:ext cx="348386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Rebuild for simulated traffic or a vehicle disruption.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87768" y="1737360"/>
            <a:ext cx="3639312" cy="3968496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71231" y="1993392"/>
            <a:ext cx="2450592" cy="292608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4383" y="2002536"/>
            <a:ext cx="230428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184FF"/>
                </a:solidFill>
                <a:latin typeface="Aptos"/>
              </a:rPr>
              <a:t>THE HYBRID PRINCIPLE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2578608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Classical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962656"/>
            <a:ext cx="279806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Feasibility • baseline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Decoding • validation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80960" y="3803904"/>
            <a:ext cx="2807208" cy="0"/>
          </a:xfrm>
          <a:prstGeom prst="line">
            <a:avLst/>
          </a:prstGeom>
          <a:ln w="1397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62672" y="4023360"/>
            <a:ext cx="28529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2DDE3"/>
                </a:solidFill>
                <a:latin typeface="Aptos"/>
              </a:rPr>
              <a:t>Quantum-inspired 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443984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QUBO • QAOA • Aer sampling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065776"/>
            <a:ext cx="283464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Experimental pathway — no quantum advantage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03 /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From delivery inputs to validated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IBM Quantum is an optional guarded pathway—not the default demo execution.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04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1298448" cy="80467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1993391"/>
            <a:ext cx="11521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2DDE3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" y="2313432"/>
            <a:ext cx="115214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1874519"/>
            <a:ext cx="1417320" cy="80467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993391"/>
            <a:ext cx="12710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B91FF"/>
                </a:solidFill>
                <a:latin typeface="Aptos"/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13432"/>
            <a:ext cx="127101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04487" y="1874519"/>
            <a:ext cx="1508760" cy="80467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1993391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2DDE3"/>
                </a:solidFill>
                <a:latin typeface="Apto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313432"/>
            <a:ext cx="136245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7568" y="1874519"/>
            <a:ext cx="1572768" cy="80467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993391"/>
            <a:ext cx="142646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84FF"/>
                </a:solidFill>
                <a:latin typeface="Aptos"/>
              </a:rPr>
              <a:t>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313432"/>
            <a:ext cx="142646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Route options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34656" y="1874519"/>
            <a:ext cx="1325880" cy="80467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993391"/>
            <a:ext cx="11795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B91FF"/>
                </a:solidFill>
                <a:latin typeface="Aptos"/>
              </a:rPr>
              <a:t>QUBO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313432"/>
            <a:ext cx="117957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Binary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1874519"/>
            <a:ext cx="1371600" cy="80467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1993391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84FF"/>
                </a:solidFill>
                <a:latin typeface="Aptos"/>
              </a:rPr>
              <a:t>QAOA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313432"/>
            <a:ext cx="122529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Qiskit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38528" y="2276856"/>
            <a:ext cx="274320" cy="0"/>
          </a:xfrm>
          <a:prstGeom prst="line">
            <a:avLst/>
          </a:prstGeom>
          <a:ln w="2286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30168" y="2276856"/>
            <a:ext cx="274319" cy="0"/>
          </a:xfrm>
          <a:prstGeom prst="line">
            <a:avLst/>
          </a:prstGeom>
          <a:ln w="2286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13248" y="2276856"/>
            <a:ext cx="274320" cy="0"/>
          </a:xfrm>
          <a:prstGeom prst="line">
            <a:avLst/>
          </a:prstGeom>
          <a:ln w="2286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60336" y="2276856"/>
            <a:ext cx="274320" cy="0"/>
          </a:xfrm>
          <a:prstGeom prst="line">
            <a:avLst/>
          </a:prstGeom>
          <a:ln w="2286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60536" y="2276856"/>
            <a:ext cx="274320" cy="0"/>
          </a:xfrm>
          <a:prstGeom prst="line">
            <a:avLst/>
          </a:prstGeom>
          <a:ln w="2286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904487" y="2971800"/>
            <a:ext cx="5367528" cy="6583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1" y="3127248"/>
            <a:ext cx="5074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F7FC"/>
                </a:solidFill>
                <a:latin typeface="Aptos"/>
              </a:rPr>
              <a:t>APP LAYER   ·   Classical optimizer   ·   Dynamic traffic   ·   Fleet disruption   ·   Objectives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36008" y="2697480"/>
            <a:ext cx="0" cy="274320"/>
          </a:xfrm>
          <a:prstGeom prst="line">
            <a:avLst/>
          </a:prstGeom>
          <a:ln w="1905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52360" y="4069080"/>
            <a:ext cx="1901952" cy="713232"/>
          </a:xfrm>
          <a:prstGeom prst="roundRect">
            <a:avLst/>
          </a:prstGeom>
          <a:solidFill>
            <a:srgbClr val="0D2038"/>
          </a:solidFill>
          <a:ln w="1524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6952" y="4178808"/>
            <a:ext cx="15727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LOCAL AER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4462272"/>
            <a:ext cx="157276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Simulation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28632" y="4069080"/>
            <a:ext cx="1417320" cy="713232"/>
          </a:xfrm>
          <a:prstGeom prst="roundRect">
            <a:avLst/>
          </a:prstGeom>
          <a:solidFill>
            <a:srgbClr val="0D2038"/>
          </a:solidFill>
          <a:ln w="1524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4178808"/>
            <a:ext cx="11521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A184FF"/>
                </a:solidFill>
                <a:latin typeface="Aptos"/>
              </a:rPr>
              <a:t>IBM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4462272"/>
            <a:ext cx="130759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A5B7CF"/>
                </a:solidFill>
                <a:latin typeface="Aptos"/>
              </a:rPr>
              <a:t>Optional / guarded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8394192" y="2688336"/>
            <a:ext cx="1417320" cy="1380744"/>
          </a:xfrm>
          <a:prstGeom prst="line">
            <a:avLst/>
          </a:prstGeom>
          <a:ln w="2032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003536" y="2688336"/>
            <a:ext cx="310896" cy="1380744"/>
          </a:xfrm>
          <a:prstGeom prst="line">
            <a:avLst/>
          </a:prstGeom>
          <a:ln w="17780">
            <a:solidFill>
              <a:srgbClr val="A184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764024" y="5230368"/>
            <a:ext cx="1847088" cy="6583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01184" y="5303520"/>
            <a:ext cx="157276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DE0A0"/>
                </a:solidFill>
                <a:latin typeface="Aptos"/>
              </a:rPr>
              <a:t>DECODE +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DE0A0"/>
                </a:solidFill>
                <a:latin typeface="Aptos"/>
              </a:rPr>
              <a:t>VALIDATE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687568" y="4782312"/>
            <a:ext cx="2706624" cy="448056"/>
          </a:xfrm>
          <a:prstGeom prst="line">
            <a:avLst/>
          </a:prstGeom>
          <a:ln w="19050">
            <a:solidFill>
              <a:srgbClr val="5DE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327648" y="4782312"/>
            <a:ext cx="3986784" cy="448056"/>
          </a:xfrm>
          <a:prstGeom prst="line">
            <a:avLst/>
          </a:prstGeom>
          <a:ln w="19050">
            <a:solidFill>
              <a:srgbClr val="A1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086600" y="5230368"/>
            <a:ext cx="1664208" cy="6583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14616" y="5431536"/>
            <a:ext cx="13990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F7FC"/>
                </a:solidFill>
                <a:latin typeface="Aptos"/>
              </a:rPr>
              <a:t>RESULTS + MAP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8" y="5230368"/>
            <a:ext cx="1975104" cy="6583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5431536"/>
            <a:ext cx="171907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F7FC"/>
                </a:solidFill>
                <a:latin typeface="Aptos"/>
              </a:rPr>
              <a:t>SQLITE HISTORY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611112" y="5559552"/>
            <a:ext cx="475488" cy="0"/>
          </a:xfrm>
          <a:prstGeom prst="line">
            <a:avLst/>
          </a:prstGeom>
          <a:ln w="19050">
            <a:solidFill>
              <a:srgbClr val="5DE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50808" y="5559552"/>
            <a:ext cx="320040" cy="0"/>
          </a:xfrm>
          <a:prstGeom prst="line">
            <a:avLst/>
          </a:prstGeom>
          <a:ln w="1905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3232" y="6053328"/>
            <a:ext cx="98755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Hardware requires explicit user confirmation; the deck reports no executed hardware job.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04 / QUANTUM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QUBO turns route choices into binary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A small, interpretable Demo Mode formulation links feasible routes to QAOA samples.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05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55648"/>
            <a:ext cx="4809744" cy="3611880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011680"/>
            <a:ext cx="32552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DDE3"/>
                </a:solidFill>
                <a:latin typeface="Aptos"/>
              </a:rPr>
              <a:t>FOUR ROUTE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450592"/>
            <a:ext cx="2011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4F7FC"/>
                </a:solidFill>
                <a:latin typeface="Aptos"/>
              </a:rPr>
              <a:t>xᵢ ∈ {0, 1}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36118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A5B7CF"/>
                </a:solidFill>
                <a:latin typeface="Aptos"/>
              </a:rPr>
              <a:t>Each bit says whether a feasible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A5B7CF"/>
                </a:solidFill>
                <a:latin typeface="Aptos"/>
              </a:rPr>
              <a:t>vehicle-route option is selected.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4041648"/>
            <a:ext cx="658368" cy="658368"/>
          </a:xfrm>
          <a:prstGeom prst="roundRect">
            <a:avLst/>
          </a:prstGeom>
          <a:solidFill>
            <a:srgbClr val="112A46"/>
          </a:solidFill>
          <a:ln w="1651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895344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5B7CF"/>
                </a:solidFill>
                <a:latin typeface="Aptos"/>
              </a:rPr>
              <a:t>x0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114800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42DDE3"/>
                </a:solidFill>
                <a:latin typeface="Apto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088" y="4041648"/>
            <a:ext cx="658368" cy="658368"/>
          </a:xfrm>
          <a:prstGeom prst="roundRect">
            <a:avLst/>
          </a:prstGeom>
          <a:solidFill>
            <a:srgbClr val="112A46"/>
          </a:solidFill>
          <a:ln w="1651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3895344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5B7CF"/>
                </a:solidFill>
                <a:latin typeface="Aptos"/>
              </a:rPr>
              <a:t>x1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114800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4B91FF"/>
                </a:solidFill>
                <a:latin typeface="Aptos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4041648"/>
            <a:ext cx="658368" cy="658368"/>
          </a:xfrm>
          <a:prstGeom prst="roundRect">
            <a:avLst/>
          </a:prstGeom>
          <a:solidFill>
            <a:srgbClr val="112A46"/>
          </a:solidFill>
          <a:ln w="1651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3895344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5B7CF"/>
                </a:solidFill>
                <a:latin typeface="Aptos"/>
              </a:rPr>
              <a:t>x2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4114800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A184FF"/>
                </a:solidFill>
                <a:latin typeface="Apto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2736" y="4041648"/>
            <a:ext cx="658368" cy="658368"/>
          </a:xfrm>
          <a:prstGeom prst="roundRect">
            <a:avLst/>
          </a:prstGeom>
          <a:solidFill>
            <a:srgbClr val="112A46"/>
          </a:solidFill>
          <a:ln w="16510">
            <a:solidFill>
              <a:srgbClr val="FFC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3895344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5B7CF"/>
                </a:solidFill>
                <a:latin typeface="Aptos"/>
              </a:rPr>
              <a:t>x3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114800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C06E"/>
                </a:solidFill>
                <a:latin typeface="Apto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19472"/>
            <a:ext cx="4133087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5B7CF"/>
                </a:solidFill>
                <a:latin typeface="Aptos"/>
              </a:rPr>
              <a:t>Illustrative variable labels only — no sample result shown.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1755648"/>
            <a:ext cx="5276088" cy="1399032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16752" y="1965960"/>
            <a:ext cx="1207008" cy="292608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1975103"/>
            <a:ext cx="106070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4B91FF"/>
                </a:solidFill>
                <a:latin typeface="Aptos"/>
              </a:rPr>
              <a:t>OBJECTIVE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2450592"/>
            <a:ext cx="44805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4F7FC"/>
                </a:solidFill>
                <a:latin typeface="Aptos"/>
              </a:rPr>
              <a:t>Route cost + constraint penalties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3392424"/>
            <a:ext cx="2523744" cy="1527048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70448" y="3557016"/>
            <a:ext cx="50292" cy="1197864"/>
          </a:xfrm>
          <a:prstGeom prst="rect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25896" y="3547872"/>
            <a:ext cx="20208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A184FF"/>
                </a:solidFill>
                <a:latin typeface="Aptos"/>
              </a:rPr>
              <a:t>Coverage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5896" y="3941063"/>
            <a:ext cx="1993391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Every delivery selected exactly once.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67344" y="3392424"/>
            <a:ext cx="2523744" cy="1527048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22792" y="3557016"/>
            <a:ext cx="50292" cy="1197864"/>
          </a:xfrm>
          <a:prstGeom prst="rect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3547872"/>
            <a:ext cx="20208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2DDE3"/>
                </a:solidFill>
                <a:latin typeface="Aptos"/>
              </a:rPr>
              <a:t>Vehicle penalty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941063"/>
            <a:ext cx="1993391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No vehicle assigned multiple routes.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5138928"/>
            <a:ext cx="5276088" cy="457200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0448" y="5230368"/>
            <a:ext cx="49743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QAOA samples candidates  →  classical decode + feasibility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05 / DYNAMIC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Re-optimization responds to scenario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Both traffic incidents and breakdowns are simulated inputs—not live feeds.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73936"/>
            <a:ext cx="4892040" cy="184708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993392"/>
            <a:ext cx="1783080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02536"/>
            <a:ext cx="16367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184FF"/>
                </a:solidFill>
                <a:latin typeface="Aptos"/>
              </a:rPr>
              <a:t>TRAFFIC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32888"/>
            <a:ext cx="127101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A5B7CF"/>
                </a:solidFill>
                <a:latin typeface="Aptos"/>
              </a:rPr>
              <a:t>NORMAL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49424" y="2697480"/>
            <a:ext cx="731520" cy="0"/>
          </a:xfrm>
          <a:prstGeom prst="line">
            <a:avLst/>
          </a:prstGeom>
          <a:ln w="25400">
            <a:solidFill>
              <a:srgbClr val="42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45536" y="2532888"/>
            <a:ext cx="110642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HEAVY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090672"/>
            <a:ext cx="409651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5B7CF"/>
                </a:solidFill>
                <a:latin typeface="Aptos"/>
              </a:rPr>
              <a:t>Rebuild travel-time inputs; re-optimize and compare before/after route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773936"/>
            <a:ext cx="5138928" cy="184708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993392"/>
            <a:ext cx="1865376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FFC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002536"/>
            <a:ext cx="17190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C06E"/>
                </a:solidFill>
                <a:latin typeface="Aptos"/>
              </a:rPr>
              <a:t>FLEET DISRUPTION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2542032"/>
            <a:ext cx="1051560" cy="4297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642616"/>
            <a:ext cx="9601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42DDE3"/>
                </a:solidFill>
                <a:latin typeface="Aptos"/>
              </a:rPr>
              <a:t>VAN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2088" y="2542032"/>
            <a:ext cx="1051560" cy="4297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FF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2642616"/>
            <a:ext cx="9601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7482"/>
                </a:solidFill>
                <a:latin typeface="Aptos"/>
              </a:rPr>
              <a:t>VAN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542032"/>
            <a:ext cx="1051560" cy="4297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42616"/>
            <a:ext cx="9601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4B91FF"/>
                </a:solidFill>
                <a:latin typeface="Aptos"/>
              </a:rPr>
              <a:t>VAN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44968" y="3054096"/>
            <a:ext cx="0" cy="246888"/>
          </a:xfrm>
          <a:prstGeom prst="line">
            <a:avLst/>
          </a:prstGeom>
          <a:ln w="25400">
            <a:solidFill>
              <a:srgbClr val="FFC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08776" y="3246120"/>
            <a:ext cx="44074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Unavailable vehicle → priority-aware reassignment → re-validate / waitlist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986784"/>
            <a:ext cx="10332720" cy="1353312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8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DE3"/>
                </a:solidFill>
                <a:latin typeface="Aptos"/>
              </a:rPr>
              <a:t>OBJECTIVE LENS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24912" y="4233672"/>
            <a:ext cx="1572768" cy="521207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42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4361688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COST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08576" y="4233672"/>
            <a:ext cx="1572768" cy="521207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0016" y="4361688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B91FF"/>
                </a:solidFill>
                <a:latin typeface="Aptos"/>
              </a:rPr>
              <a:t>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233672"/>
            <a:ext cx="1572768" cy="521207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5D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4361688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DE0A0"/>
                </a:solidFill>
                <a:latin typeface="Aptos"/>
              </a:rPr>
              <a:t>GREEN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5904" y="4233672"/>
            <a:ext cx="1572768" cy="521207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4361688"/>
            <a:ext cx="13898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A184FF"/>
                </a:solidFill>
                <a:latin typeface="Aptos"/>
              </a:rPr>
              <a:t>BALANCED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55464"/>
            <a:ext cx="9601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Compare normalized objectives alongside physical distance, time, cost, fuel, and tailpipe CO₂.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733288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Traffic profiles are simulated. OSRM road alternatives are shown separately and are not chosen by the optimizer.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06 / DEMO + VERIFIED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Local demo results — no hardware result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Deterministic Demo Mode run checked locally; QAOA result shown here is Qiskit Aer simulation.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64792"/>
            <a:ext cx="6510528" cy="359359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A5B7CF"/>
                </a:solidFill>
                <a:latin typeface="Aptos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02996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A5B7CF"/>
                </a:solidFill>
                <a:latin typeface="Aptos"/>
              </a:rPr>
              <a:t>CLASSICAL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029968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A5B7CF"/>
                </a:solidFill>
                <a:latin typeface="Aptos"/>
              </a:rPr>
              <a:t>LOCAL AER QAOA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2441448"/>
            <a:ext cx="5916168" cy="0"/>
          </a:xfrm>
          <a:prstGeom prst="line">
            <a:avLst/>
          </a:prstGeom>
          <a:ln w="825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2487168"/>
            <a:ext cx="2048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487168"/>
            <a:ext cx="147218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18.225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2487168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18.225 km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" y="2926080"/>
            <a:ext cx="5916168" cy="0"/>
          </a:xfrm>
          <a:prstGeom prst="line">
            <a:avLst/>
          </a:prstGeom>
          <a:ln w="825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" y="2971800"/>
            <a:ext cx="2048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Travel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2971800"/>
            <a:ext cx="147218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34.171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2971800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34.171 min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" y="3410712"/>
            <a:ext cx="5916168" cy="0"/>
          </a:xfrm>
          <a:prstGeom prst="line">
            <a:avLst/>
          </a:prstGeom>
          <a:ln w="825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0120" y="3456432"/>
            <a:ext cx="2048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Operating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3456432"/>
            <a:ext cx="147218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₹1,854.19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3456432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₹1,854.19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3895344"/>
            <a:ext cx="5916168" cy="0"/>
          </a:xfrm>
          <a:prstGeom prst="line">
            <a:avLst/>
          </a:prstGeom>
          <a:ln w="825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" y="3941064"/>
            <a:ext cx="2048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Fuel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3941064"/>
            <a:ext cx="147218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1.640 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4336" y="3941064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1.640 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2688" y="4379976"/>
            <a:ext cx="5916168" cy="0"/>
          </a:xfrm>
          <a:prstGeom prst="line">
            <a:avLst/>
          </a:prstGeom>
          <a:ln w="8255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120" y="4425696"/>
            <a:ext cx="2048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Tailpipe CO₂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7832" y="4425696"/>
            <a:ext cx="147218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4.396 kg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4336" y="4425696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4.396 kg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" y="4956048"/>
            <a:ext cx="2185416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5D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965192"/>
            <a:ext cx="20391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DE0A0"/>
                </a:solidFill>
                <a:latin typeface="Aptos"/>
              </a:rPr>
              <a:t>VALIDATED LOCAL SAMPLE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764792"/>
            <a:ext cx="3493008" cy="148132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4112" y="1975104"/>
            <a:ext cx="254203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A184FF"/>
                </a:solidFill>
                <a:latin typeface="Aptos"/>
              </a:rPr>
              <a:t>DYNAMIC SCENARIO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2395728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Traffic + fleet re-optimization completed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3493008"/>
            <a:ext cx="3493008" cy="1865376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54112" y="3730752"/>
            <a:ext cx="259689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A184FF"/>
                </a:solidFill>
                <a:latin typeface="Aptos"/>
              </a:rPr>
              <a:t>IBM QUANTUM PATHWAY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4096512"/>
            <a:ext cx="26517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Safe dry-run readiness verified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4754880"/>
            <a:ext cx="2057400" cy="292608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FFC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7264" y="4764024"/>
            <a:ext cx="191109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C06E"/>
                </a:solidFill>
                <a:latin typeface="Aptos"/>
              </a:rPr>
              <a:t>NO JOB SUBMITTED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760720"/>
            <a:ext cx="100126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A5B7CF"/>
                </a:solidFill>
                <a:latin typeface="Aptos"/>
              </a:rPr>
              <a:t>Equal local metrics do not establish speedup, optimality, or quantum advantage.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07 /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Built with a focused, inspectable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Tools map directly to the implemented workflow.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08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56231"/>
            <a:ext cx="3246120" cy="135331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029967"/>
            <a:ext cx="50292" cy="1005840"/>
          </a:xfrm>
          <a:prstGeom prst="rect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2039112"/>
            <a:ext cx="2642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2331720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2825496"/>
            <a:ext cx="26791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Workspace navigation, inputs, results, 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9663" y="1856231"/>
            <a:ext cx="3246120" cy="135331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5" y="2029967"/>
            <a:ext cx="50292" cy="1005840"/>
          </a:xfrm>
          <a:prstGeom prst="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2039112"/>
            <a:ext cx="2642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B91FF"/>
                </a:solidFill>
                <a:latin typeface="Aptos"/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331720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825496"/>
            <a:ext cx="26791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Scenarios, constraints, optimization,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856231"/>
            <a:ext cx="3246120" cy="135331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45552" y="2029967"/>
            <a:ext cx="50292" cy="1005840"/>
          </a:xfrm>
          <a:prstGeom prst="rect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2642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A184FF"/>
                </a:solidFill>
                <a:latin typeface="Aptos"/>
              </a:rPr>
              <a:t>QUANTUM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331720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Qiskit · Qiskit Optimization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Qiskit Algorithms · Qiskit Aer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2825496"/>
            <a:ext cx="26791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QUBO/QAOA and local circuit simulation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538728"/>
            <a:ext cx="3246120" cy="135331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" y="3712464"/>
            <a:ext cx="50292" cy="1005840"/>
          </a:xfrm>
          <a:prstGeom prst="rect">
            <a:avLst/>
          </a:prstGeom>
          <a:solidFill>
            <a:srgbClr val="5D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3721608"/>
            <a:ext cx="2642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DE0A0"/>
                </a:solidFill>
                <a:latin typeface="Aptos"/>
              </a:rPr>
              <a:t>ROUTING +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4014216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Optional OSRM · Folium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Streamlit-Folium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4507992"/>
            <a:ext cx="26791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Road inputs/geometry and route visualization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9663" y="3538728"/>
            <a:ext cx="3246120" cy="135331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4255" y="3712464"/>
            <a:ext cx="50292" cy="1005840"/>
          </a:xfrm>
          <a:prstGeom prst="rect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3721608"/>
            <a:ext cx="2642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FC06E"/>
                </a:solidFill>
                <a:latin typeface="Aptos"/>
              </a:rPr>
              <a:t>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4014216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SQLite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4507992"/>
            <a:ext cx="26791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Local operation 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3538728"/>
            <a:ext cx="3246120" cy="1353312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45552" y="3712464"/>
            <a:ext cx="50292" cy="1005840"/>
          </a:xfrm>
          <a:prstGeom prst="rect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37576" y="3721608"/>
            <a:ext cx="2642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A184FF"/>
                </a:solidFill>
                <a:latin typeface="Aptos"/>
              </a:rPr>
              <a:t>OPTIONAL HARDWARE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6" y="4014216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IBM Quantum Runtime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4507992"/>
            <a:ext cx="267919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5B7CF"/>
                </a:solidFill>
                <a:latin typeface="Aptos"/>
              </a:rPr>
              <a:t>Guarded, explicit-confirmation pathway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477256"/>
            <a:ext cx="10268712" cy="530352"/>
          </a:xfrm>
          <a:prstGeom prst="round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5605272"/>
            <a:ext cx="978408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A5B7CF"/>
                </a:solidFill>
                <a:latin typeface="Aptos"/>
              </a:rPr>
              <a:t>No React UI   •   No MySQL database   •   No AWS hosting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08 / INTENDED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Make the trade-offs visible to the dispatcher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The project supports inspection and comparison—not quantified savings claims.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09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38528"/>
            <a:ext cx="4828032" cy="129844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4983" y="2267712"/>
            <a:ext cx="182880" cy="182880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456" y="2139696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DE3"/>
                </a:solidFill>
                <a:latin typeface="Aptos"/>
              </a:rPr>
              <a:t>ROUTE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551176"/>
            <a:ext cx="3785615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Inspect route distance and vehicle assignment.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1938528"/>
            <a:ext cx="4828032" cy="129844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4496" y="2267712"/>
            <a:ext cx="182880" cy="182880"/>
          </a:xfrm>
          <a:prstGeom prst="ellipse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139696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B91FF"/>
                </a:solidFill>
                <a:latin typeface="Aptos"/>
              </a:rPr>
              <a:t>TIME +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551176"/>
            <a:ext cx="3785615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Compare travel time with modeled operating cost.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29584"/>
            <a:ext cx="4828032" cy="129844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983" y="3858768"/>
            <a:ext cx="182880" cy="182880"/>
          </a:xfrm>
          <a:prstGeom prst="ellipse">
            <a:avLst/>
          </a:prstGeom>
          <a:solidFill>
            <a:srgbClr val="5D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62456" y="3730752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DE0A0"/>
                </a:solidFill>
                <a:latin typeface="Aptos"/>
              </a:rPr>
              <a:t>SUSTAINABILITY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4142232"/>
            <a:ext cx="3785615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Review configured fuel and estimated tailpipe CO₂.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529584"/>
            <a:ext cx="4828032" cy="129844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4496" y="3858768"/>
            <a:ext cx="182880" cy="182880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730752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A184FF"/>
                </a:solidFill>
                <a:latin typeface="Aptos"/>
              </a:rPr>
              <a:t>FLEET 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142232"/>
            <a:ext cx="3785615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See reassignment, feasible service, and waitlist.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358384"/>
            <a:ext cx="10049256" cy="585216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513832"/>
            <a:ext cx="958291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4F7FC"/>
                </a:solidFill>
                <a:latin typeface="Aptos"/>
              </a:rPr>
              <a:t>Purpose: help explain how a constrained routing decision changes with its scenario.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640312" y="256032"/>
            <a:ext cx="0" cy="6254496"/>
          </a:xfrm>
          <a:prstGeom prst="line">
            <a:avLst/>
          </a:prstGeom>
          <a:ln w="1270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1590020" y="452628"/>
            <a:ext cx="100584" cy="100584"/>
          </a:xfrm>
          <a:prstGeom prst="ellipse">
            <a:avLst/>
          </a:prstGeom>
          <a:solidFill>
            <a:srgbClr val="42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90020" y="6313932"/>
            <a:ext cx="100584" cy="100584"/>
          </a:xfrm>
          <a:prstGeom prst="ellipse">
            <a:avLst/>
          </a:prstGeom>
          <a:solidFill>
            <a:srgbClr val="A1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2DDE3"/>
                </a:solidFill>
                <a:latin typeface="Aptos"/>
              </a:rPr>
              <a:t>09 / HONEST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0936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Limitations today. Clear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97864"/>
            <a:ext cx="106984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5B7CF"/>
                </a:solidFill>
                <a:latin typeface="Aptos"/>
              </a:rPr>
              <a:t>Future work is not presented as a current capability.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46520"/>
            <a:ext cx="10908792" cy="0"/>
          </a:xfrm>
          <a:prstGeom prst="line">
            <a:avLst/>
          </a:prstGeom>
          <a:ln w="10160">
            <a:solidFill>
              <a:srgbClr val="294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6492240"/>
            <a:ext cx="4754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QUANTUMROUTE   •   K-NOVA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83096"/>
            <a:ext cx="8686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A5B7CF"/>
                </a:solidFill>
                <a:latin typeface="Aptos"/>
              </a:rPr>
              <a:t>10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4965192" cy="3858768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2029968"/>
            <a:ext cx="2084831" cy="292608"/>
          </a:xfrm>
          <a:prstGeom prst="roundRect">
            <a:avLst/>
          </a:prstGeom>
          <a:solidFill>
            <a:srgbClr val="112A46"/>
          </a:solidFill>
          <a:ln w="10160">
            <a:solidFill>
              <a:srgbClr val="FFC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39112"/>
            <a:ext cx="1938527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C06E"/>
                </a:solidFill>
                <a:latin typeface="Aptos"/>
              </a:rPr>
              <a:t>CURRENT LIMITATIONS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964692" y="2674620"/>
            <a:ext cx="82296" cy="82296"/>
          </a:xfrm>
          <a:prstGeom prst="ellipse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2587752"/>
            <a:ext cx="4041648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Small deterministic synthetic scenarios</a:t>
            </a:r>
          </a:p>
        </p:txBody>
      </p:sp>
      <p:sp>
        <p:nvSpPr>
          <p:cNvPr id="16" name="Oval 15"/>
          <p:cNvSpPr/>
          <p:nvPr/>
        </p:nvSpPr>
        <p:spPr>
          <a:xfrm>
            <a:off x="964692" y="3214116"/>
            <a:ext cx="82296" cy="82296"/>
          </a:xfrm>
          <a:prstGeom prst="ellipse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127248"/>
            <a:ext cx="4041648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Traffic and vehicle failures are simulated</a:t>
            </a:r>
          </a:p>
        </p:txBody>
      </p:sp>
      <p:sp>
        <p:nvSpPr>
          <p:cNvPr id="18" name="Oval 17"/>
          <p:cNvSpPr/>
          <p:nvPr/>
        </p:nvSpPr>
        <p:spPr>
          <a:xfrm>
            <a:off x="964692" y="3753611"/>
            <a:ext cx="82296" cy="82296"/>
          </a:xfrm>
          <a:prstGeom prst="ellipse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3666744"/>
            <a:ext cx="4041648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OSRM alternatives are separate from optimizer route choice</a:t>
            </a:r>
          </a:p>
        </p:txBody>
      </p:sp>
      <p:sp>
        <p:nvSpPr>
          <p:cNvPr id="20" name="Oval 19"/>
          <p:cNvSpPr/>
          <p:nvPr/>
        </p:nvSpPr>
        <p:spPr>
          <a:xfrm>
            <a:off x="964692" y="4293107"/>
            <a:ext cx="82296" cy="82296"/>
          </a:xfrm>
          <a:prstGeom prst="ellipse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4206240"/>
            <a:ext cx="4041648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QAOA is stochastic; no advantage or speedup established</a:t>
            </a:r>
          </a:p>
        </p:txBody>
      </p:sp>
      <p:sp>
        <p:nvSpPr>
          <p:cNvPr id="22" name="Oval 21"/>
          <p:cNvSpPr/>
          <p:nvPr/>
        </p:nvSpPr>
        <p:spPr>
          <a:xfrm>
            <a:off x="964692" y="4832603"/>
            <a:ext cx="82296" cy="82296"/>
          </a:xfrm>
          <a:prstGeom prst="ellipse">
            <a:avLst/>
          </a:prstGeom>
          <a:solidFill>
            <a:srgbClr val="FFC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4745736"/>
            <a:ext cx="4041648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No verified IBM hardware result; no active Hindsight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25312" y="1810512"/>
            <a:ext cx="5065776" cy="3858768"/>
          </a:xfrm>
          <a:prstGeom prst="roundRect">
            <a:avLst/>
          </a:prstGeom>
          <a:solidFill>
            <a:srgbClr val="112A46"/>
          </a:solidFill>
          <a:ln w="12700">
            <a:solidFill>
              <a:srgbClr val="294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029968"/>
            <a:ext cx="2194560" cy="292608"/>
          </a:xfrm>
          <a:prstGeom prst="roundRect">
            <a:avLst/>
          </a:prstGeom>
          <a:solidFill>
            <a:srgbClr val="0D2038"/>
          </a:solidFill>
          <a:ln w="1016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039112"/>
            <a:ext cx="204825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A184FF"/>
                </a:solidFill>
                <a:latin typeface="Aptos"/>
              </a:rPr>
              <a:t>POSSIBLE FUTURE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2706624"/>
            <a:ext cx="448056" cy="448056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2807208"/>
            <a:ext cx="3749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A184FF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724912"/>
            <a:ext cx="364845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Verified, approved hardware experiments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520440"/>
            <a:ext cx="448056" cy="448056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3621024"/>
            <a:ext cx="3749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A184FF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3538728"/>
            <a:ext cx="364845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Larger problem studies + scalability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5352" y="4334256"/>
            <a:ext cx="448056" cy="448056"/>
          </a:xfrm>
          <a:prstGeom prst="roundRect">
            <a:avLst/>
          </a:prstGeom>
          <a:solidFill>
            <a:srgbClr val="0D2038"/>
          </a:solidFill>
          <a:ln w="12700">
            <a:solidFill>
              <a:srgbClr val="A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4434840"/>
            <a:ext cx="3749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A184FF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4352544"/>
            <a:ext cx="364845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Stronger live-data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998464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2DDE3"/>
                </a:solidFill>
                <a:latin typeface="Aptos"/>
              </a:rPr>
              <a:t>QuantumRoute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6007608"/>
            <a:ext cx="790041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5B7CF"/>
                </a:solidFill>
                <a:latin typeface="Aptos"/>
              </a:rPr>
              <a:t>Classical baseline + local quantum experiment. Hardware pathway optional.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QuantumRoute — Hackathon Pitch</dc:title>
  <dc:subject>Quantum-Enhanced Dynamic Last-Mile Route Optimisation</dc:subject>
  <dc:creator>K-NOVA</dc:creator>
  <cp:keywords>QuantumRoute, QUBO, QAOA, Qiskit, Aer, Streamlit</cp:keywords>
  <dc:description>Editable slides built from native PowerPoint shapes and text. Local Aer results only; no IBM hardware job is claimed.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